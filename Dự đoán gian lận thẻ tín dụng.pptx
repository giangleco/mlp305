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swald Bold" charset="1" panose="00000800000000000000"/>
      <p:regular r:id="rId24"/>
    </p:embeddedFont>
    <p:embeddedFont>
      <p:font typeface="Poppins Medium" charset="1" panose="00000600000000000000"/>
      <p:regular r:id="rId25"/>
    </p:embeddedFont>
    <p:embeddedFont>
      <p:font typeface="Poppins" charset="1" panose="00000500000000000000"/>
      <p:regular r:id="rId26"/>
    </p:embeddedFont>
    <p:embeddedFont>
      <p:font typeface="Noto Sans Bold" charset="1" panose="020B0802040504020204"/>
      <p:regular r:id="rId27"/>
    </p:embeddedFont>
    <p:embeddedFont>
      <p:font typeface="Montserrat Bold" charset="1" panose="00000800000000000000"/>
      <p:regular r:id="rId28"/>
    </p:embeddedFont>
    <p:embeddedFont>
      <p:font typeface="Poppins Bold" charset="1" panose="00000800000000000000"/>
      <p:regular r:id="rId29"/>
    </p:embeddedFont>
    <p:embeddedFont>
      <p:font typeface="Bebas Neue Bold" charset="1" panose="020B0606020202050201"/>
      <p:regular r:id="rId30"/>
    </p:embeddedFont>
    <p:embeddedFont>
      <p:font typeface="Helvetica World Bold" charset="1" panose="020B08000400000200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94485" y="-1211082"/>
            <a:ext cx="5550299" cy="55502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9219" t="0" r="-39219" b="0"/>
              </a:stretch>
            </a:blipFill>
            <a:ln w="66675" cap="sq">
              <a:solidFill>
                <a:srgbClr val="00AEEF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12751305" y="0"/>
            <a:ext cx="5693053" cy="5693053"/>
          </a:xfrm>
          <a:custGeom>
            <a:avLst/>
            <a:gdLst/>
            <a:ahLst/>
            <a:cxnLst/>
            <a:rect r="r" b="b" t="t" l="l"/>
            <a:pathLst>
              <a:path h="5693053" w="5693053">
                <a:moveTo>
                  <a:pt x="5693053" y="5693053"/>
                </a:moveTo>
                <a:lnTo>
                  <a:pt x="0" y="5693053"/>
                </a:lnTo>
                <a:lnTo>
                  <a:pt x="0" y="0"/>
                </a:lnTo>
                <a:lnTo>
                  <a:pt x="5693053" y="0"/>
                </a:lnTo>
                <a:lnTo>
                  <a:pt x="5693053" y="56930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848357" y="5143500"/>
            <a:ext cx="6186093" cy="61860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  <a:ln w="66675" cap="sq">
              <a:solidFill>
                <a:srgbClr val="00AEEF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616902" y="6614210"/>
            <a:ext cx="5054196" cy="1347158"/>
          </a:xfrm>
          <a:custGeom>
            <a:avLst/>
            <a:gdLst/>
            <a:ahLst/>
            <a:cxnLst/>
            <a:rect r="r" b="b" t="t" l="l"/>
            <a:pathLst>
              <a:path h="1347158" w="5054196">
                <a:moveTo>
                  <a:pt x="0" y="0"/>
                </a:moveTo>
                <a:lnTo>
                  <a:pt x="5054196" y="0"/>
                </a:lnTo>
                <a:lnTo>
                  <a:pt x="5054196" y="1347158"/>
                </a:lnTo>
                <a:lnTo>
                  <a:pt x="0" y="1347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027994" y="6245236"/>
            <a:ext cx="7854505" cy="1676770"/>
            <a:chOff x="0" y="0"/>
            <a:chExt cx="2068676" cy="441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8676" cy="441618"/>
            </a:xfrm>
            <a:custGeom>
              <a:avLst/>
              <a:gdLst/>
              <a:ahLst/>
              <a:cxnLst/>
              <a:rect r="r" b="b" t="t" l="l"/>
              <a:pathLst>
                <a:path h="441618" w="2068676">
                  <a:moveTo>
                    <a:pt x="0" y="0"/>
                  </a:moveTo>
                  <a:lnTo>
                    <a:pt x="2068676" y="0"/>
                  </a:lnTo>
                  <a:lnTo>
                    <a:pt x="2068676" y="441618"/>
                  </a:lnTo>
                  <a:lnTo>
                    <a:pt x="0" y="441618"/>
                  </a:lnTo>
                  <a:close/>
                </a:path>
              </a:pathLst>
            </a:custGeom>
            <a:gradFill rotWithShape="true">
              <a:gsLst>
                <a:gs pos="0">
                  <a:srgbClr val="00ADED">
                    <a:alpha val="0"/>
                  </a:srgbClr>
                </a:gs>
                <a:gs pos="100000">
                  <a:srgbClr val="00AEEF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AEE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68676" cy="508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-428003" y="4810657"/>
            <a:ext cx="5078030" cy="5975047"/>
          </a:xfrm>
          <a:custGeom>
            <a:avLst/>
            <a:gdLst/>
            <a:ahLst/>
            <a:cxnLst/>
            <a:rect r="r" b="b" t="t" l="l"/>
            <a:pathLst>
              <a:path h="5975047" w="5078030">
                <a:moveTo>
                  <a:pt x="5078030" y="0"/>
                </a:moveTo>
                <a:lnTo>
                  <a:pt x="0" y="0"/>
                </a:lnTo>
                <a:lnTo>
                  <a:pt x="0" y="5975047"/>
                </a:lnTo>
                <a:lnTo>
                  <a:pt x="5078030" y="5975047"/>
                </a:lnTo>
                <a:lnTo>
                  <a:pt x="507803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26859" y="3398740"/>
            <a:ext cx="11434282" cy="2722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2"/>
              </a:lnSpc>
            </a:pPr>
            <a:r>
              <a:rPr lang="en-US" b="true" sz="1024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DỰ ĐOÁN GIAN LẬN THẺ TÍN DỤNG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11125" y="6318172"/>
            <a:ext cx="6609947" cy="1445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8"/>
              </a:lnSpc>
            </a:pPr>
            <a:r>
              <a:rPr lang="en-US" sz="272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HỌ TÊN HỌC VIÊN: GIANG LÊ HOÀNG</a:t>
            </a:r>
          </a:p>
          <a:p>
            <a:pPr algn="l">
              <a:lnSpc>
                <a:spcPts val="3818"/>
              </a:lnSpc>
            </a:pPr>
            <a:r>
              <a:rPr lang="en-US" sz="272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MÃ HỌC VIÊN: FX32661</a:t>
            </a:r>
          </a:p>
          <a:p>
            <a:pPr algn="l">
              <a:lnSpc>
                <a:spcPts val="3818"/>
              </a:lnSpc>
              <a:spcBef>
                <a:spcPct val="0"/>
              </a:spcBef>
            </a:pPr>
            <a:r>
              <a:rPr lang="en-US" b="true" sz="272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MÃ MÔN: MLP305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797700" y="5054341"/>
            <a:ext cx="5471452" cy="5222749"/>
          </a:xfrm>
          <a:custGeom>
            <a:avLst/>
            <a:gdLst/>
            <a:ahLst/>
            <a:cxnLst/>
            <a:rect r="r" b="b" t="t" l="l"/>
            <a:pathLst>
              <a:path h="5222749" w="5471452">
                <a:moveTo>
                  <a:pt x="5471452" y="0"/>
                </a:moveTo>
                <a:lnTo>
                  <a:pt x="0" y="0"/>
                </a:lnTo>
                <a:lnTo>
                  <a:pt x="0" y="5222749"/>
                </a:lnTo>
                <a:lnTo>
                  <a:pt x="5471452" y="5222749"/>
                </a:lnTo>
                <a:lnTo>
                  <a:pt x="54714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7016" y="3555135"/>
            <a:ext cx="3403123" cy="3176731"/>
            <a:chOff x="0" y="0"/>
            <a:chExt cx="4537497" cy="42356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37497" cy="4235641"/>
            </a:xfrm>
            <a:custGeom>
              <a:avLst/>
              <a:gdLst/>
              <a:ahLst/>
              <a:cxnLst/>
              <a:rect r="r" b="b" t="t" l="l"/>
              <a:pathLst>
                <a:path h="4235641" w="4537497">
                  <a:moveTo>
                    <a:pt x="0" y="0"/>
                  </a:moveTo>
                  <a:lnTo>
                    <a:pt x="4537497" y="0"/>
                  </a:lnTo>
                  <a:lnTo>
                    <a:pt x="4537497" y="4235641"/>
                  </a:lnTo>
                  <a:lnTo>
                    <a:pt x="0" y="4235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18" r="-19772" b="-121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991317" y="843756"/>
              <a:ext cx="2688772" cy="2146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086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TỔNG QUAN VỀ DỰ ÁN 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017320" y="4913682"/>
            <a:ext cx="3290343" cy="3592520"/>
          </a:xfrm>
          <a:custGeom>
            <a:avLst/>
            <a:gdLst/>
            <a:ahLst/>
            <a:cxnLst/>
            <a:rect r="r" b="b" t="t" l="l"/>
            <a:pathLst>
              <a:path h="3592520" w="3290343">
                <a:moveTo>
                  <a:pt x="0" y="0"/>
                </a:moveTo>
                <a:lnTo>
                  <a:pt x="3290343" y="0"/>
                </a:lnTo>
                <a:lnTo>
                  <a:pt x="3290343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91" t="0" r="-29667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16834" y="5833020"/>
            <a:ext cx="2091315" cy="156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7"/>
              </a:lnSpc>
              <a:spcBef>
                <a:spcPct val="0"/>
              </a:spcBef>
            </a:pPr>
            <a:r>
              <a:rPr lang="en-US" b="true" sz="298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PHÂN TÍCH DỮ LIỆU &amp; TIỀN XỬ LÝ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199411" y="3680971"/>
            <a:ext cx="3403123" cy="3715657"/>
          </a:xfrm>
          <a:custGeom>
            <a:avLst/>
            <a:gdLst/>
            <a:ahLst/>
            <a:cxnLst/>
            <a:rect r="r" b="b" t="t" l="l"/>
            <a:pathLst>
              <a:path h="3715657" w="3403123">
                <a:moveTo>
                  <a:pt x="0" y="0"/>
                </a:moveTo>
                <a:lnTo>
                  <a:pt x="3403123" y="0"/>
                </a:lnTo>
                <a:lnTo>
                  <a:pt x="3403123" y="3715657"/>
                </a:lnTo>
                <a:lnTo>
                  <a:pt x="0" y="3715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91" t="0" r="-2966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68673" y="4674354"/>
            <a:ext cx="2661488" cy="163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MÔ HÌNH HÓA &amp; THUẬT TOÁN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37498" y="4931721"/>
            <a:ext cx="3403123" cy="3715657"/>
          </a:xfrm>
          <a:custGeom>
            <a:avLst/>
            <a:gdLst/>
            <a:ahLst/>
            <a:cxnLst/>
            <a:rect r="r" b="b" t="t" l="l"/>
            <a:pathLst>
              <a:path h="3715657" w="3403123">
                <a:moveTo>
                  <a:pt x="0" y="0"/>
                </a:moveTo>
                <a:lnTo>
                  <a:pt x="3403123" y="0"/>
                </a:lnTo>
                <a:lnTo>
                  <a:pt x="3403123" y="3715657"/>
                </a:lnTo>
                <a:lnTo>
                  <a:pt x="0" y="3715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091" t="0" r="-29667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045398" y="5925104"/>
            <a:ext cx="2787324" cy="163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08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KẾT QUẢ THỰC NGHIỆM VÀ TRIỂN KHAI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4001" y="424696"/>
            <a:ext cx="9665410" cy="1179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3"/>
              </a:lnSpc>
            </a:pPr>
          </a:p>
          <a:p>
            <a:pPr algn="l">
              <a:lnSpc>
                <a:spcPts val="7335"/>
              </a:lnSpc>
            </a:pPr>
            <a:r>
              <a:rPr lang="en-US" sz="6986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QYY TRÌNH CỦA BÀI TOÁN</a:t>
            </a:r>
          </a:p>
        </p:txBody>
      </p:sp>
      <p:sp>
        <p:nvSpPr>
          <p:cNvPr name="AutoShape 13" id="13"/>
          <p:cNvSpPr/>
          <p:nvPr/>
        </p:nvSpPr>
        <p:spPr>
          <a:xfrm>
            <a:off x="3530139" y="5143500"/>
            <a:ext cx="1632709" cy="156644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8302363" y="5538799"/>
            <a:ext cx="1897049" cy="118488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602534" y="5538799"/>
            <a:ext cx="1134965" cy="12507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429" y="482916"/>
            <a:ext cx="9912070" cy="12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88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TỔNG QUAN VỀ DỰ ÁN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60507" y="2234478"/>
            <a:ext cx="12910240" cy="6916091"/>
            <a:chOff x="0" y="0"/>
            <a:chExt cx="17213653" cy="922145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7213653" cy="9221455"/>
              <a:chOff x="0" y="0"/>
              <a:chExt cx="3567728" cy="191125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567728" cy="1911253"/>
              </a:xfrm>
              <a:custGeom>
                <a:avLst/>
                <a:gdLst/>
                <a:ahLst/>
                <a:cxnLst/>
                <a:rect r="r" b="b" t="t" l="l"/>
                <a:pathLst>
                  <a:path h="1911253" w="3567728">
                    <a:moveTo>
                      <a:pt x="40006" y="0"/>
                    </a:moveTo>
                    <a:lnTo>
                      <a:pt x="3527721" y="0"/>
                    </a:lnTo>
                    <a:cubicBezTo>
                      <a:pt x="3549817" y="0"/>
                      <a:pt x="3567728" y="17911"/>
                      <a:pt x="3567728" y="40006"/>
                    </a:cubicBezTo>
                    <a:lnTo>
                      <a:pt x="3567728" y="1871246"/>
                    </a:lnTo>
                    <a:cubicBezTo>
                      <a:pt x="3567728" y="1893341"/>
                      <a:pt x="3549817" y="1911253"/>
                      <a:pt x="3527721" y="1911253"/>
                    </a:cubicBezTo>
                    <a:lnTo>
                      <a:pt x="40006" y="1911253"/>
                    </a:lnTo>
                    <a:cubicBezTo>
                      <a:pt x="17911" y="1911253"/>
                      <a:pt x="0" y="1893341"/>
                      <a:pt x="0" y="1871246"/>
                    </a:cubicBezTo>
                    <a:lnTo>
                      <a:pt x="0" y="40006"/>
                    </a:lnTo>
                    <a:cubicBezTo>
                      <a:pt x="0" y="17911"/>
                      <a:pt x="17911" y="0"/>
                      <a:pt x="40006" y="0"/>
                    </a:cubicBezTo>
                    <a:close/>
                  </a:path>
                </a:pathLst>
              </a:custGeom>
              <a:solidFill>
                <a:srgbClr val="2AB0D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3567728" cy="19779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604836" y="46542"/>
              <a:ext cx="8003981" cy="1093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93"/>
                </a:lnSpc>
                <a:spcBef>
                  <a:spcPct val="0"/>
                </a:spcBef>
              </a:pPr>
              <a:r>
                <a:rPr lang="en-US" b="true" sz="478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LÝ DO CHỌN ĐỀ TÀI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95801" y="3470145"/>
            <a:ext cx="12098509" cy="514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8487" indent="-284243" lvl="1">
              <a:lnSpc>
                <a:spcPts val="36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Sự</a:t>
            </a: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BÙNG NỔ CỦA GIAO DỊCH SỐ</a:t>
            </a:r>
          </a:p>
          <a:p>
            <a:pPr algn="just" marL="1136974" indent="-378991" lvl="2">
              <a:lnSpc>
                <a:spcPts val="3686"/>
              </a:lnSpc>
              <a:buFont typeface="Arial"/>
              <a:buChar char="⚬"/>
            </a:pP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NỘI DUNG: </a:t>
            </a:r>
            <a:r>
              <a:rPr lang="en-US" sz="26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SỰ THAY ĐỔI TỪ TIỀN MẶT SANG THANH TOÁN TRỰC TUYẾN </a:t>
            </a:r>
          </a:p>
          <a:p>
            <a:pPr algn="just" marL="1136974" indent="-378991" lvl="2">
              <a:lnSpc>
                <a:spcPts val="3686"/>
              </a:lnSpc>
              <a:buFont typeface="Arial"/>
              <a:buChar char="⚬"/>
            </a:pP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Ý CHÍNH:</a:t>
            </a:r>
            <a:r>
              <a:rPr lang="en-US" sz="26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LƯU LƯỢNG GIAO DỊCH KHỔNG LỒ TẠO RA NHỮNG GIAN LẬN TRONG GIAO DỊCH</a:t>
            </a:r>
          </a:p>
          <a:p>
            <a:pPr algn="just" marL="568487" indent="-284243" lvl="1">
              <a:lnSpc>
                <a:spcPts val="368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THIỆT HẠI KINH TẾ NGHIÊM TRỌNG</a:t>
            </a:r>
          </a:p>
          <a:p>
            <a:pPr algn="just" marL="1136974" indent="-378991" lvl="2">
              <a:lnSpc>
                <a:spcPts val="36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NỘI DUNG: GIAN LẬN TÀI CHÍNH KHÔNG CHỈ GÂY MẤT MÁT TIỀN BẠC TRỰC TIẾP MÀ CÒN LÀM XÓI MÒN LÒNG TIN CỦA KHÁCH HÀNG VÀO HỆ THỐNG NGÂN HÀNG.</a:t>
            </a:r>
          </a:p>
          <a:p>
            <a:pPr algn="just" marL="1136974" indent="-378991" lvl="2">
              <a:lnSpc>
                <a:spcPts val="3686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6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THIỆT HẠI DO GIAN LẬN THẺ TÍN DỤNG TRÊN TOÀN CẦU ƯỚC TÍNH LÊN ĐẾN HÀNG CHỤC TỶ USD MỖI NĂM.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429" y="482916"/>
            <a:ext cx="9912070" cy="12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88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TỔNG QUAN VỀ DỰ ÁN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04726" y="2041467"/>
            <a:ext cx="5775444" cy="102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0"/>
              </a:lnSpc>
              <a:spcBef>
                <a:spcPct val="0"/>
              </a:spcBef>
            </a:pPr>
            <a:r>
              <a:rPr lang="en-US" b="true" sz="56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MỤC TIÊU ĐỀ TÀI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85891" y="4066218"/>
            <a:ext cx="5393555" cy="3809885"/>
            <a:chOff x="0" y="0"/>
            <a:chExt cx="7191407" cy="507984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191407" cy="5079846"/>
              <a:chOff x="0" y="0"/>
              <a:chExt cx="1420525" cy="100342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420525" cy="1003426"/>
              </a:xfrm>
              <a:custGeom>
                <a:avLst/>
                <a:gdLst/>
                <a:ahLst/>
                <a:cxnLst/>
                <a:rect r="r" b="b" t="t" l="l"/>
                <a:pathLst>
                  <a:path h="1003426" w="1420525">
                    <a:moveTo>
                      <a:pt x="106220" y="0"/>
                    </a:moveTo>
                    <a:lnTo>
                      <a:pt x="1314305" y="0"/>
                    </a:lnTo>
                    <a:cubicBezTo>
                      <a:pt x="1342476" y="0"/>
                      <a:pt x="1369494" y="11191"/>
                      <a:pt x="1389414" y="31111"/>
                    </a:cubicBezTo>
                    <a:cubicBezTo>
                      <a:pt x="1409334" y="51031"/>
                      <a:pt x="1420525" y="78049"/>
                      <a:pt x="1420525" y="106220"/>
                    </a:cubicBezTo>
                    <a:lnTo>
                      <a:pt x="1420525" y="897207"/>
                    </a:lnTo>
                    <a:cubicBezTo>
                      <a:pt x="1420525" y="925378"/>
                      <a:pt x="1409334" y="952395"/>
                      <a:pt x="1389414" y="972315"/>
                    </a:cubicBezTo>
                    <a:cubicBezTo>
                      <a:pt x="1369494" y="992235"/>
                      <a:pt x="1342476" y="1003426"/>
                      <a:pt x="1314305" y="1003426"/>
                    </a:cubicBezTo>
                    <a:lnTo>
                      <a:pt x="106220" y="1003426"/>
                    </a:lnTo>
                    <a:cubicBezTo>
                      <a:pt x="78049" y="1003426"/>
                      <a:pt x="51031" y="992235"/>
                      <a:pt x="31111" y="972315"/>
                    </a:cubicBezTo>
                    <a:cubicBezTo>
                      <a:pt x="11191" y="952395"/>
                      <a:pt x="0" y="925378"/>
                      <a:pt x="0" y="897207"/>
                    </a:cubicBezTo>
                    <a:lnTo>
                      <a:pt x="0" y="106220"/>
                    </a:lnTo>
                    <a:cubicBezTo>
                      <a:pt x="0" y="78049"/>
                      <a:pt x="11191" y="51031"/>
                      <a:pt x="31111" y="31111"/>
                    </a:cubicBezTo>
                    <a:cubicBezTo>
                      <a:pt x="51031" y="11191"/>
                      <a:pt x="78049" y="0"/>
                      <a:pt x="10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88BB">
                      <a:alpha val="395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1420525" cy="10701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620794" y="155365"/>
              <a:ext cx="41148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XÂY</a:t>
              </a:r>
              <a:r>
                <a:rPr lang="en-US" b="true" sz="24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DỰNG MÔ HÌNH PHÂN LOẠI NHỊ PHÂN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57329" y="1847533"/>
              <a:ext cx="6608047" cy="3017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18746" indent="-159373" lvl="1">
                <a:lnSpc>
                  <a:spcPts val="2288"/>
                </a:lnSpc>
                <a:buFont typeface="Arial"/>
                <a:buChar char="•"/>
              </a:pPr>
              <a:r>
                <a:rPr lang="en-US" b="true" sz="1476" spc="152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MỤC T</a:t>
              </a:r>
              <a:r>
                <a:rPr lang="en-US" b="true" sz="1476" spc="152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IÊU: PHÁT TRIỂN CÁC THUẬT TOÁN HỌC MÁY (MACHINE LEARNING) ĐỂ TỰ ĐỘNG GÁN NHÃN CHO MỖI GIAO DỊCH VÀO MỘT TRONG HAI NHÓM:</a:t>
              </a:r>
            </a:p>
            <a:p>
              <a:pPr algn="l" marL="637492" indent="-212497" lvl="2">
                <a:lnSpc>
                  <a:spcPts val="2288"/>
                </a:lnSpc>
                <a:buFont typeface="Arial"/>
                <a:buChar char="⚬"/>
              </a:pPr>
              <a:r>
                <a:rPr lang="en-US" b="true" sz="1476" spc="152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LỚP 0 : GIAO DỊCH HỢP LỆ (LEGITIMATE).</a:t>
              </a:r>
            </a:p>
            <a:p>
              <a:pPr algn="l" marL="637492" indent="-212497" lvl="2">
                <a:lnSpc>
                  <a:spcPts val="2288"/>
                </a:lnSpc>
                <a:buFont typeface="Arial"/>
                <a:buChar char="⚬"/>
              </a:pPr>
              <a:r>
                <a:rPr lang="en-US" b="true" sz="1476" spc="152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LỚP 1 : GIAO DỊCH GIAN LẬN </a:t>
              </a:r>
            </a:p>
            <a:p>
              <a:pPr algn="l">
                <a:lnSpc>
                  <a:spcPts val="228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95670" y="4066218"/>
            <a:ext cx="5393555" cy="4018160"/>
            <a:chOff x="0" y="0"/>
            <a:chExt cx="7191407" cy="535754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191407" cy="5357547"/>
              <a:chOff x="0" y="0"/>
              <a:chExt cx="1420525" cy="105828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20525" cy="1058281"/>
              </a:xfrm>
              <a:custGeom>
                <a:avLst/>
                <a:gdLst/>
                <a:ahLst/>
                <a:cxnLst/>
                <a:rect r="r" b="b" t="t" l="l"/>
                <a:pathLst>
                  <a:path h="1058281" w="1420525">
                    <a:moveTo>
                      <a:pt x="106220" y="0"/>
                    </a:moveTo>
                    <a:lnTo>
                      <a:pt x="1314305" y="0"/>
                    </a:lnTo>
                    <a:cubicBezTo>
                      <a:pt x="1342476" y="0"/>
                      <a:pt x="1369494" y="11191"/>
                      <a:pt x="1389414" y="31111"/>
                    </a:cubicBezTo>
                    <a:cubicBezTo>
                      <a:pt x="1409334" y="51031"/>
                      <a:pt x="1420525" y="78049"/>
                      <a:pt x="1420525" y="106220"/>
                    </a:cubicBezTo>
                    <a:lnTo>
                      <a:pt x="1420525" y="952061"/>
                    </a:lnTo>
                    <a:cubicBezTo>
                      <a:pt x="1420525" y="980232"/>
                      <a:pt x="1409334" y="1007250"/>
                      <a:pt x="1389414" y="1027170"/>
                    </a:cubicBezTo>
                    <a:cubicBezTo>
                      <a:pt x="1369494" y="1047090"/>
                      <a:pt x="1342476" y="1058281"/>
                      <a:pt x="1314305" y="1058281"/>
                    </a:cubicBezTo>
                    <a:lnTo>
                      <a:pt x="106220" y="1058281"/>
                    </a:lnTo>
                    <a:cubicBezTo>
                      <a:pt x="78049" y="1058281"/>
                      <a:pt x="51031" y="1047090"/>
                      <a:pt x="31111" y="1027170"/>
                    </a:cubicBezTo>
                    <a:cubicBezTo>
                      <a:pt x="11191" y="1007250"/>
                      <a:pt x="0" y="980232"/>
                      <a:pt x="0" y="952061"/>
                    </a:cubicBezTo>
                    <a:lnTo>
                      <a:pt x="0" y="106220"/>
                    </a:lnTo>
                    <a:cubicBezTo>
                      <a:pt x="0" y="78049"/>
                      <a:pt x="11191" y="51031"/>
                      <a:pt x="31111" y="31111"/>
                    </a:cubicBezTo>
                    <a:cubicBezTo>
                      <a:pt x="51031" y="11191"/>
                      <a:pt x="78049" y="0"/>
                      <a:pt x="10622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88BB">
                      <a:alpha val="395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66675"/>
                <a:ext cx="1420525" cy="11249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1620794" y="155365"/>
              <a:ext cx="41148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TỐI</a:t>
              </a:r>
              <a:r>
                <a:rPr lang="en-US" b="true" sz="2400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ƯU HÓA KHẢ NĂNG PHÁT HIỆN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7329" y="1818958"/>
              <a:ext cx="6608047" cy="33239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18746" indent="-159373" lvl="1">
                <a:lnSpc>
                  <a:spcPts val="2598"/>
                </a:lnSpc>
                <a:buFont typeface="Arial"/>
                <a:buChar char="•"/>
              </a:pPr>
              <a:r>
                <a:rPr lang="en-US" b="true" sz="1476" spc="14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 ĐẢM BẢO HỆ THỐNG "BẮT" ĐƯỢC CÀNG NHIỀU GIAO DỊCH GIAN LẬN CÀNG TỐT.</a:t>
              </a:r>
            </a:p>
            <a:p>
              <a:pPr algn="l" marL="318746" indent="-159373" lvl="1">
                <a:lnSpc>
                  <a:spcPts val="3144"/>
                </a:lnSpc>
                <a:buFont typeface="Arial"/>
                <a:buChar char="•"/>
              </a:pPr>
              <a:r>
                <a:rPr lang="en-US" b="true" sz="1476" spc="14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GIẢM THIỂU TỶ LỆ FALSE NEGATIVES (FN) — TỨC LÀ BỎ SÓT GIAN LẬN, GÂY THIỆT HẠI TRỰC TIẾP VỀ TIỀN MẶT CHO NGÂN HÀNG VÀ KHÁCH HÀNG.</a:t>
              </a:r>
            </a:p>
            <a:p>
              <a:pPr algn="l">
                <a:lnSpc>
                  <a:spcPts val="259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603600" y="4066218"/>
            <a:ext cx="5393555" cy="4087985"/>
            <a:chOff x="0" y="0"/>
            <a:chExt cx="1420525" cy="1076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0525" cy="1076671"/>
            </a:xfrm>
            <a:custGeom>
              <a:avLst/>
              <a:gdLst/>
              <a:ahLst/>
              <a:cxnLst/>
              <a:rect r="r" b="b" t="t" l="l"/>
              <a:pathLst>
                <a:path h="1076671" w="1420525">
                  <a:moveTo>
                    <a:pt x="106220" y="0"/>
                  </a:moveTo>
                  <a:lnTo>
                    <a:pt x="1314305" y="0"/>
                  </a:lnTo>
                  <a:cubicBezTo>
                    <a:pt x="1342476" y="0"/>
                    <a:pt x="1369494" y="11191"/>
                    <a:pt x="1389414" y="31111"/>
                  </a:cubicBezTo>
                  <a:cubicBezTo>
                    <a:pt x="1409334" y="51031"/>
                    <a:pt x="1420525" y="78049"/>
                    <a:pt x="1420525" y="106220"/>
                  </a:cubicBezTo>
                  <a:lnTo>
                    <a:pt x="1420525" y="970451"/>
                  </a:lnTo>
                  <a:cubicBezTo>
                    <a:pt x="1420525" y="998622"/>
                    <a:pt x="1409334" y="1025640"/>
                    <a:pt x="1389414" y="1045560"/>
                  </a:cubicBezTo>
                  <a:cubicBezTo>
                    <a:pt x="1369494" y="1065480"/>
                    <a:pt x="1342476" y="1076671"/>
                    <a:pt x="1314305" y="1076671"/>
                  </a:cubicBezTo>
                  <a:lnTo>
                    <a:pt x="106220" y="1076671"/>
                  </a:lnTo>
                  <a:cubicBezTo>
                    <a:pt x="78049" y="1076671"/>
                    <a:pt x="51031" y="1065480"/>
                    <a:pt x="31111" y="1045560"/>
                  </a:cubicBezTo>
                  <a:cubicBezTo>
                    <a:pt x="11191" y="1025640"/>
                    <a:pt x="0" y="998622"/>
                    <a:pt x="0" y="970451"/>
                  </a:cubicBezTo>
                  <a:lnTo>
                    <a:pt x="0" y="106220"/>
                  </a:lnTo>
                  <a:cubicBezTo>
                    <a:pt x="0" y="78049"/>
                    <a:pt x="11191" y="51031"/>
                    <a:pt x="31111" y="31111"/>
                  </a:cubicBezTo>
                  <a:cubicBezTo>
                    <a:pt x="51031" y="11191"/>
                    <a:pt x="78049" y="0"/>
                    <a:pt x="1062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8BB">
                    <a:alpha val="395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420525" cy="1143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473147" y="4166073"/>
            <a:ext cx="377819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DUY</a:t>
            </a:r>
            <a:r>
              <a:rPr lang="en-US" b="true" sz="24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TRÌ TRẢI NGHIỆM KHÁCH HÀNG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84228" y="5460122"/>
            <a:ext cx="4956035" cy="215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8746" indent="-159373" lvl="1">
              <a:lnSpc>
                <a:spcPts val="2480"/>
              </a:lnSpc>
              <a:buFont typeface="Arial"/>
              <a:buChar char="•"/>
            </a:pPr>
            <a:r>
              <a:rPr lang="en-US" b="true" sz="1476" spc="4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ĐẢM BẢO CÁC GIAO DỊCH BỊ ĐÁNH DẤU LÀ GIAN LẬN THỰC SỰ LÀ GIAN LẬN.</a:t>
            </a:r>
          </a:p>
          <a:p>
            <a:pPr algn="l" marL="318746" indent="-159373" lvl="1">
              <a:lnSpc>
                <a:spcPts val="2480"/>
              </a:lnSpc>
              <a:buFont typeface="Arial"/>
              <a:buChar char="•"/>
            </a:pPr>
            <a:r>
              <a:rPr lang="en-US" b="true" sz="1476" spc="4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GIẢM THIỂU TỶ LỆ FALSE POSITIVES (FP) — TRÁNH TÌNH TRẠNG KHÓA THẺ NHẦM CỦA KHÁCH HÀNG ĐANG THANH TOÁN BÌNH THƯỜNG.</a:t>
            </a:r>
          </a:p>
          <a:p>
            <a:pPr algn="l">
              <a:lnSpc>
                <a:spcPts val="206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2429" y="482916"/>
            <a:ext cx="9912070" cy="12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88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TỔNG QUAN VỀ DỰ ÁN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85695" y="1915631"/>
            <a:ext cx="11316611" cy="102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0"/>
              </a:lnSpc>
              <a:spcBef>
                <a:spcPct val="0"/>
              </a:spcBef>
            </a:pPr>
            <a:r>
              <a:rPr lang="en-US" b="true" sz="56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QUY TRÌNH THỰC HIỆN BÀI TOÁN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4483" y="3790140"/>
            <a:ext cx="3132614" cy="2905988"/>
            <a:chOff x="0" y="0"/>
            <a:chExt cx="4176818" cy="387465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4176818" cy="3874651"/>
              <a:chOff x="0" y="0"/>
              <a:chExt cx="672759" cy="62408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72759" cy="624089"/>
              </a:xfrm>
              <a:custGeom>
                <a:avLst/>
                <a:gdLst/>
                <a:ahLst/>
                <a:cxnLst/>
                <a:rect r="r" b="b" t="t" l="l"/>
                <a:pathLst>
                  <a:path h="624089" w="672759">
                    <a:moveTo>
                      <a:pt x="224282" y="0"/>
                    </a:moveTo>
                    <a:lnTo>
                      <a:pt x="448477" y="0"/>
                    </a:lnTo>
                    <a:cubicBezTo>
                      <a:pt x="572344" y="0"/>
                      <a:pt x="672759" y="100415"/>
                      <a:pt x="672759" y="224282"/>
                    </a:cubicBezTo>
                    <a:lnTo>
                      <a:pt x="672759" y="399807"/>
                    </a:lnTo>
                    <a:cubicBezTo>
                      <a:pt x="672759" y="459290"/>
                      <a:pt x="649129" y="516337"/>
                      <a:pt x="607068" y="558398"/>
                    </a:cubicBezTo>
                    <a:cubicBezTo>
                      <a:pt x="565007" y="600459"/>
                      <a:pt x="507960" y="624089"/>
                      <a:pt x="448477" y="624089"/>
                    </a:cubicBezTo>
                    <a:lnTo>
                      <a:pt x="224282" y="624089"/>
                    </a:lnTo>
                    <a:cubicBezTo>
                      <a:pt x="100415" y="624089"/>
                      <a:pt x="0" y="523674"/>
                      <a:pt x="0" y="399807"/>
                    </a:cubicBezTo>
                    <a:lnTo>
                      <a:pt x="0" y="224282"/>
                    </a:lnTo>
                    <a:cubicBezTo>
                      <a:pt x="0" y="100415"/>
                      <a:pt x="100415" y="0"/>
                      <a:pt x="22428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88BB">
                      <a:alpha val="395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672759" cy="690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95114" y="1216145"/>
              <a:ext cx="3186589" cy="13566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20"/>
                </a:lnSpc>
                <a:spcBef>
                  <a:spcPct val="0"/>
                </a:spcBef>
              </a:pPr>
              <a:r>
                <a:rPr lang="en-US" b="true" sz="2943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THU THẬP DỮ LIỆU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61028" y="6160836"/>
            <a:ext cx="3065863" cy="2844067"/>
            <a:chOff x="0" y="0"/>
            <a:chExt cx="4087817" cy="379208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087817" cy="3792089"/>
              <a:chOff x="0" y="0"/>
              <a:chExt cx="672759" cy="62408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2759" cy="624089"/>
              </a:xfrm>
              <a:custGeom>
                <a:avLst/>
                <a:gdLst/>
                <a:ahLst/>
                <a:cxnLst/>
                <a:rect r="r" b="b" t="t" l="l"/>
                <a:pathLst>
                  <a:path h="624089" w="672759">
                    <a:moveTo>
                      <a:pt x="224282" y="0"/>
                    </a:moveTo>
                    <a:lnTo>
                      <a:pt x="448477" y="0"/>
                    </a:lnTo>
                    <a:cubicBezTo>
                      <a:pt x="572344" y="0"/>
                      <a:pt x="672759" y="100415"/>
                      <a:pt x="672759" y="224282"/>
                    </a:cubicBezTo>
                    <a:lnTo>
                      <a:pt x="672759" y="399807"/>
                    </a:lnTo>
                    <a:cubicBezTo>
                      <a:pt x="672759" y="459290"/>
                      <a:pt x="649129" y="516337"/>
                      <a:pt x="607068" y="558398"/>
                    </a:cubicBezTo>
                    <a:cubicBezTo>
                      <a:pt x="565007" y="600459"/>
                      <a:pt x="507960" y="624089"/>
                      <a:pt x="448477" y="624089"/>
                    </a:cubicBezTo>
                    <a:lnTo>
                      <a:pt x="224282" y="624089"/>
                    </a:lnTo>
                    <a:cubicBezTo>
                      <a:pt x="100415" y="624089"/>
                      <a:pt x="0" y="523674"/>
                      <a:pt x="0" y="399807"/>
                    </a:cubicBezTo>
                    <a:lnTo>
                      <a:pt x="0" y="224282"/>
                    </a:lnTo>
                    <a:cubicBezTo>
                      <a:pt x="0" y="100415"/>
                      <a:pt x="100415" y="0"/>
                      <a:pt x="22428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88BB">
                      <a:alpha val="395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672759" cy="690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4564" y="1197930"/>
              <a:ext cx="3118689" cy="1320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32"/>
                </a:lnSpc>
                <a:spcBef>
                  <a:spcPct val="0"/>
                </a:spcBef>
              </a:pPr>
              <a:r>
                <a:rPr lang="en-US" sz="288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TIỀN XỬ LÝ DỮ LIỆU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84291" y="3874423"/>
            <a:ext cx="2950902" cy="2737422"/>
            <a:chOff x="0" y="0"/>
            <a:chExt cx="3934536" cy="364989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934536" cy="3649896"/>
              <a:chOff x="0" y="0"/>
              <a:chExt cx="672759" cy="62408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72759" cy="624089"/>
              </a:xfrm>
              <a:custGeom>
                <a:avLst/>
                <a:gdLst/>
                <a:ahLst/>
                <a:cxnLst/>
                <a:rect r="r" b="b" t="t" l="l"/>
                <a:pathLst>
                  <a:path h="624089" w="672759">
                    <a:moveTo>
                      <a:pt x="224282" y="0"/>
                    </a:moveTo>
                    <a:lnTo>
                      <a:pt x="448477" y="0"/>
                    </a:lnTo>
                    <a:cubicBezTo>
                      <a:pt x="572344" y="0"/>
                      <a:pt x="672759" y="100415"/>
                      <a:pt x="672759" y="224282"/>
                    </a:cubicBezTo>
                    <a:lnTo>
                      <a:pt x="672759" y="399807"/>
                    </a:lnTo>
                    <a:cubicBezTo>
                      <a:pt x="672759" y="459290"/>
                      <a:pt x="649129" y="516337"/>
                      <a:pt x="607068" y="558398"/>
                    </a:cubicBezTo>
                    <a:cubicBezTo>
                      <a:pt x="565007" y="600459"/>
                      <a:pt x="507960" y="624089"/>
                      <a:pt x="448477" y="624089"/>
                    </a:cubicBezTo>
                    <a:lnTo>
                      <a:pt x="224282" y="624089"/>
                    </a:lnTo>
                    <a:cubicBezTo>
                      <a:pt x="100415" y="624089"/>
                      <a:pt x="0" y="523674"/>
                      <a:pt x="0" y="399807"/>
                    </a:cubicBezTo>
                    <a:lnTo>
                      <a:pt x="0" y="224282"/>
                    </a:lnTo>
                    <a:cubicBezTo>
                      <a:pt x="0" y="100415"/>
                      <a:pt x="100415" y="0"/>
                      <a:pt x="224282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88BB">
                      <a:alpha val="395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672759" cy="6907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66395" y="1150153"/>
              <a:ext cx="3001746" cy="1273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81"/>
                </a:lnSpc>
                <a:spcBef>
                  <a:spcPct val="0"/>
                </a:spcBef>
              </a:pPr>
              <a:r>
                <a:rPr lang="en-US" sz="277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HUẤN LUYỆN MÔ HÌNH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3337097" y="5243134"/>
            <a:ext cx="1623931" cy="2339735"/>
          </a:xfrm>
          <a:prstGeom prst="line">
            <a:avLst/>
          </a:prstGeom>
          <a:ln cap="flat" w="38100">
            <a:solidFill>
              <a:srgbClr val="00A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8026891" y="5243134"/>
            <a:ext cx="2082451" cy="2339735"/>
          </a:xfrm>
          <a:prstGeom prst="line">
            <a:avLst/>
          </a:prstGeom>
          <a:ln cap="flat" w="38100">
            <a:solidFill>
              <a:srgbClr val="00A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13035193" y="5190688"/>
            <a:ext cx="2056516" cy="2392181"/>
          </a:xfrm>
          <a:prstGeom prst="line">
            <a:avLst/>
          </a:prstGeom>
          <a:ln cap="flat" w="38100">
            <a:solidFill>
              <a:srgbClr val="00AE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5091709" y="6051219"/>
            <a:ext cx="2817835" cy="2831534"/>
            <a:chOff x="0" y="0"/>
            <a:chExt cx="3757113" cy="3775379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3757113" cy="3775379"/>
              <a:chOff x="0" y="0"/>
              <a:chExt cx="644000" cy="64713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44000" cy="647131"/>
              </a:xfrm>
              <a:custGeom>
                <a:avLst/>
                <a:gdLst/>
                <a:ahLst/>
                <a:cxnLst/>
                <a:rect r="r" b="b" t="t" l="l"/>
                <a:pathLst>
                  <a:path h="647131" w="644000">
                    <a:moveTo>
                      <a:pt x="234298" y="0"/>
                    </a:moveTo>
                    <a:lnTo>
                      <a:pt x="409702" y="0"/>
                    </a:lnTo>
                    <a:cubicBezTo>
                      <a:pt x="539101" y="0"/>
                      <a:pt x="644000" y="104899"/>
                      <a:pt x="644000" y="234298"/>
                    </a:cubicBezTo>
                    <a:lnTo>
                      <a:pt x="644000" y="412833"/>
                    </a:lnTo>
                    <a:cubicBezTo>
                      <a:pt x="644000" y="542232"/>
                      <a:pt x="539101" y="647131"/>
                      <a:pt x="409702" y="647131"/>
                    </a:cubicBezTo>
                    <a:lnTo>
                      <a:pt x="234298" y="647131"/>
                    </a:lnTo>
                    <a:cubicBezTo>
                      <a:pt x="172158" y="647131"/>
                      <a:pt x="112564" y="622446"/>
                      <a:pt x="68624" y="578506"/>
                    </a:cubicBezTo>
                    <a:cubicBezTo>
                      <a:pt x="24685" y="534567"/>
                      <a:pt x="0" y="474972"/>
                      <a:pt x="0" y="412833"/>
                    </a:cubicBezTo>
                    <a:lnTo>
                      <a:pt x="0" y="234298"/>
                    </a:lnTo>
                    <a:cubicBezTo>
                      <a:pt x="0" y="104899"/>
                      <a:pt x="104899" y="0"/>
                      <a:pt x="23429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88BB">
                      <a:alpha val="395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66675"/>
                <a:ext cx="644000" cy="7138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213580" y="979367"/>
              <a:ext cx="3246063" cy="1914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72"/>
                </a:lnSpc>
                <a:spcBef>
                  <a:spcPct val="0"/>
                </a:spcBef>
              </a:pPr>
              <a:r>
                <a:rPr lang="en-US" sz="276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ĐÁNH GIÁ MÔ HÌNH VÀ TỐI ƯU MÔ HÌNH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68104" y="5660256"/>
            <a:ext cx="11381783" cy="3802720"/>
          </a:xfrm>
          <a:custGeom>
            <a:avLst/>
            <a:gdLst/>
            <a:ahLst/>
            <a:cxnLst/>
            <a:rect r="r" b="b" t="t" l="l"/>
            <a:pathLst>
              <a:path h="3802720" w="11381783">
                <a:moveTo>
                  <a:pt x="0" y="0"/>
                </a:moveTo>
                <a:lnTo>
                  <a:pt x="11381783" y="0"/>
                </a:lnTo>
                <a:lnTo>
                  <a:pt x="11381783" y="3802719"/>
                </a:lnTo>
                <a:lnTo>
                  <a:pt x="0" y="3802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21" r="0" b="-482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30535" y="493342"/>
            <a:ext cx="15528765" cy="95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94"/>
              </a:lnSpc>
            </a:pPr>
            <a:r>
              <a:rPr lang="en-US" sz="6947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PHÂN TÍCH DỮ LIỆU VÀ TIỀN XỬ LÝ DỮ LIỆU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92929" y="1742607"/>
            <a:ext cx="9661716" cy="102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0"/>
              </a:lnSpc>
              <a:spcBef>
                <a:spcPct val="0"/>
              </a:spcBef>
            </a:pPr>
            <a:r>
              <a:rPr lang="en-US" b="true" sz="567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TỔNG QUAN VỀ BỘ DỮ LIỆU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5356" y="2920866"/>
            <a:ext cx="8166096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NGUỒN: KAGGLE (ULB)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SỐ LƯỢNG: 284,807 GIAO DỊCH.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CẤU TRÚC: 31 BIẾN SỐ.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BIẾN V1-V28: KẾT QUẢ CỦA PHÉP BIẾN ĐỔI PCA (BẢO MẬT THÔNG TIN).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05539" y="1182471"/>
            <a:ext cx="9591664" cy="4795832"/>
          </a:xfrm>
          <a:custGeom>
            <a:avLst/>
            <a:gdLst/>
            <a:ahLst/>
            <a:cxnLst/>
            <a:rect r="r" b="b" t="t" l="l"/>
            <a:pathLst>
              <a:path h="4795832" w="9591664">
                <a:moveTo>
                  <a:pt x="0" y="0"/>
                </a:moveTo>
                <a:lnTo>
                  <a:pt x="9591664" y="0"/>
                </a:lnTo>
                <a:lnTo>
                  <a:pt x="9591664" y="4795832"/>
                </a:lnTo>
                <a:lnTo>
                  <a:pt x="0" y="4795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59565" y="85725"/>
            <a:ext cx="6615291" cy="834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9"/>
              </a:lnSpc>
            </a:pPr>
            <a:r>
              <a:rPr lang="en-US" sz="6047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 PHÂN TÍCH DỮ  LIỆU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3414" y="6149753"/>
            <a:ext cx="6628004" cy="357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8"/>
              </a:lnSpc>
            </a:pPr>
            <a:r>
              <a:rPr lang="en-US" b="true" sz="2650" spc="185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NHÌN VÀO BIỂU ĐỒ MÀU XANH BÊN TRÁI, CHÚNG TA THẤY MỘT ĐƯỜNG PHÂN PHỐI RẤT TỰ NHIÊN CỦA CON NGƯỜI: GIAO DỊCH CHẠM ĐÁY VÀO KHUNG GIỜ TỪ 0H ĐẾN 5H SÁNG KHI MỌI NGƯỜI ĐANG NGỦ, VÀ DUY TRÌ Ở MỨC CAO, ỔN ĐỊNH VÀO BAN NGÀY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04040" y="6381977"/>
            <a:ext cx="8186327" cy="261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b="true" sz="2300" spc="27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CÁC GIAO DỊCH GIAN LẬN KHÔNG TUÂN THEO CHU KỲ SINH HỌC . ĐẶC BIỆT, TỶ LỆ GIAO DỊCH GIAN LẬN XẢY RA VÀO 'VÙNG TRŨNG' (TỪ 0H ĐẾN 5H SÁNG) LÀ RẤT CAO SO VỚI TỔNG LƯỢNG GIAO DỊCH BÌNH THƯỜNG Ở CÙNG THỜI ĐIỂM. HƠN NỮA, CÓ NHỮNG ĐỈNH ĐIỂM ĐỘT BIẾN (VÍ DỤ QUANH MỐC 11-12H),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23187" y="920283"/>
            <a:ext cx="9351023" cy="5727501"/>
          </a:xfrm>
          <a:custGeom>
            <a:avLst/>
            <a:gdLst/>
            <a:ahLst/>
            <a:cxnLst/>
            <a:rect r="r" b="b" t="t" l="l"/>
            <a:pathLst>
              <a:path h="5727501" w="9351023">
                <a:moveTo>
                  <a:pt x="0" y="0"/>
                </a:moveTo>
                <a:lnTo>
                  <a:pt x="9351023" y="0"/>
                </a:lnTo>
                <a:lnTo>
                  <a:pt x="9351023" y="5727502"/>
                </a:lnTo>
                <a:lnTo>
                  <a:pt x="0" y="572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19605" y="85725"/>
            <a:ext cx="6615291" cy="834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9"/>
              </a:lnSpc>
            </a:pPr>
            <a:r>
              <a:rPr lang="en-US" sz="6047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 PHÂN TÍCH DỮ  LIỆU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177888"/>
            <a:ext cx="16029546" cy="289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</a:pPr>
            <a:r>
              <a:rPr lang="en-US" b="true" sz="282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CỘT AMOUNT CHỨA NHỮNG GIAO DỊCH NGOẠI LAI LÊN TỚI 25,000 ĐÔ LA VÀ HẦU NHƯ CHỈ TẬP TRUNG Ở MÚC CHI TIÊU NHỎ LẺ </a:t>
            </a:r>
          </a:p>
          <a:p>
            <a:pPr algn="l">
              <a:lnSpc>
                <a:spcPts val="3835"/>
              </a:lnSpc>
            </a:pPr>
            <a:r>
              <a:rPr lang="en-US" b="true" sz="282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=&gt; KHÔNG SỬ DỤNG STANDARDSCALER. STANDARDSCALER TÍNH TOÁN DỰA TRÊN GIÁ TRỊ TRUNG BÌNH (MEAN), NÊN SẼ BỊ CÁC NGOẠI LAI NÀY LÀM SAI LỆCH HOÀN TOÀN. </a:t>
            </a:r>
          </a:p>
          <a:p>
            <a:pPr algn="l">
              <a:lnSpc>
                <a:spcPts val="3835"/>
              </a:lnSpc>
            </a:pPr>
            <a:r>
              <a:rPr lang="en-US" b="true" sz="282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GIAI PHÁP:ÁP DỤNG ROBUSTSCALER GIÚP MÔ HÌNH HỌC ĐƯỢC CÁC MẪU GIAN LẬN NHỎ LẺ MỘT CÁCH CHÍNH XÁC NHẤT."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039" y="4616894"/>
            <a:ext cx="5898987" cy="3575143"/>
          </a:xfrm>
          <a:custGeom>
            <a:avLst/>
            <a:gdLst/>
            <a:ahLst/>
            <a:cxnLst/>
            <a:rect r="r" b="b" t="t" l="l"/>
            <a:pathLst>
              <a:path h="3575143" w="5898987">
                <a:moveTo>
                  <a:pt x="0" y="0"/>
                </a:moveTo>
                <a:lnTo>
                  <a:pt x="5898986" y="0"/>
                </a:lnTo>
                <a:lnTo>
                  <a:pt x="5898986" y="3575143"/>
                </a:lnTo>
                <a:lnTo>
                  <a:pt x="0" y="3575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80411" y="4589201"/>
            <a:ext cx="11301259" cy="3630529"/>
          </a:xfrm>
          <a:custGeom>
            <a:avLst/>
            <a:gdLst/>
            <a:ahLst/>
            <a:cxnLst/>
            <a:rect r="r" b="b" t="t" l="l"/>
            <a:pathLst>
              <a:path h="3630529" w="11301259">
                <a:moveTo>
                  <a:pt x="0" y="0"/>
                </a:moveTo>
                <a:lnTo>
                  <a:pt x="11301259" y="0"/>
                </a:lnTo>
                <a:lnTo>
                  <a:pt x="11301259" y="3630529"/>
                </a:lnTo>
                <a:lnTo>
                  <a:pt x="0" y="363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91654" y="482916"/>
            <a:ext cx="14111846" cy="12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88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XỬ LÝ DỮ LIỆU MẤT CÂN BẰNG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967" y="1938324"/>
            <a:ext cx="10171735" cy="210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1"/>
              </a:lnSpc>
            </a:pPr>
            <a:r>
              <a:rPr lang="en-US" b="true" sz="3103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    - RANDOM UNDER-SAMPLING</a:t>
            </a:r>
          </a:p>
          <a:p>
            <a:pPr algn="l">
              <a:lnSpc>
                <a:spcPts val="5711"/>
              </a:lnSpc>
            </a:pPr>
            <a:r>
              <a:rPr lang="en-US" b="true" sz="3103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    - SMOTE (SYNTHETIC MINORITY OVER-SAMPLING TECHNIQUE)</a:t>
            </a:r>
          </a:p>
          <a:p>
            <a:pPr algn="l">
              <a:lnSpc>
                <a:spcPts val="5711"/>
              </a:lnSpc>
            </a:pPr>
            <a:r>
              <a:rPr lang="en-US" b="true" sz="3103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    - KẾT HỢP UNDER-SAMPLING VỚI SMOTE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9797" y="593933"/>
            <a:ext cx="16224078" cy="97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5"/>
              </a:lnSpc>
            </a:pPr>
            <a:r>
              <a:rPr lang="en-US" sz="709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TIỀN XỬ LÝ DỮ LIỆU VÀ PHÂN BỔ TRAIN TEST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553543" y="3148537"/>
            <a:ext cx="4109923" cy="410992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8BC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98425"/>
              <a:ext cx="558800" cy="66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259"/>
                </a:lnSpc>
                <a:spcBef>
                  <a:spcPct val="0"/>
                </a:spcBef>
              </a:pPr>
              <a:r>
                <a:rPr lang="en-US" b="true" sz="5899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80%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28882" y="4548637"/>
            <a:ext cx="2709824" cy="27098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310462"/>
                  </a:lnTo>
                  <a:lnTo>
                    <a:pt x="657569" y="812800"/>
                  </a:lnTo>
                  <a:lnTo>
                    <a:pt x="155231" y="812800"/>
                  </a:lnTo>
                  <a:lnTo>
                    <a:pt x="0" y="31046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8BC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146050"/>
              <a:ext cx="558800" cy="61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20%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596699" y="6357639"/>
            <a:ext cx="2023611" cy="90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6"/>
              </a:lnSpc>
              <a:spcBef>
                <a:spcPct val="0"/>
              </a:spcBef>
            </a:pPr>
            <a:r>
              <a:rPr lang="en-US" b="true" sz="648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TRAIN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52699" y="6646547"/>
            <a:ext cx="862191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  <a:spcBef>
                <a:spcPct val="0"/>
              </a:spcBef>
            </a:pPr>
            <a:r>
              <a:rPr lang="en-US" b="true" sz="3667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TEST</a:t>
            </a:r>
          </a:p>
        </p:txBody>
      </p:sp>
      <p:sp>
        <p:nvSpPr>
          <p:cNvPr name="AutoShape 11" id="11"/>
          <p:cNvSpPr/>
          <p:nvPr/>
        </p:nvSpPr>
        <p:spPr>
          <a:xfrm>
            <a:off x="5791554" y="7277511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7474758" y="6468537"/>
            <a:ext cx="3454125" cy="80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7"/>
              </a:lnSpc>
              <a:spcBef>
                <a:spcPct val="0"/>
              </a:spcBef>
            </a:pPr>
            <a:r>
              <a:rPr lang="en-US" b="true" sz="581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STRATIFY=Y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980171" y="4991681"/>
            <a:ext cx="4896689" cy="3970770"/>
          </a:xfrm>
          <a:custGeom>
            <a:avLst/>
            <a:gdLst/>
            <a:ahLst/>
            <a:cxnLst/>
            <a:rect r="r" b="b" t="t" l="l"/>
            <a:pathLst>
              <a:path h="3970770" w="4896689">
                <a:moveTo>
                  <a:pt x="0" y="0"/>
                </a:moveTo>
                <a:lnTo>
                  <a:pt x="4896690" y="0"/>
                </a:lnTo>
                <a:lnTo>
                  <a:pt x="4896690" y="3970770"/>
                </a:lnTo>
                <a:lnTo>
                  <a:pt x="0" y="3970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9340523">
            <a:off x="-7316572" y="3618577"/>
            <a:ext cx="10955661" cy="8326302"/>
          </a:xfrm>
          <a:custGeom>
            <a:avLst/>
            <a:gdLst/>
            <a:ahLst/>
            <a:cxnLst/>
            <a:rect r="r" b="b" t="t" l="l"/>
            <a:pathLst>
              <a:path h="8326302" w="10955661">
                <a:moveTo>
                  <a:pt x="0" y="0"/>
                </a:moveTo>
                <a:lnTo>
                  <a:pt x="10955662" y="0"/>
                </a:lnTo>
                <a:lnTo>
                  <a:pt x="10955662" y="8326303"/>
                </a:lnTo>
                <a:lnTo>
                  <a:pt x="0" y="83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7255" y="431817"/>
            <a:ext cx="14411318" cy="974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5"/>
              </a:lnSpc>
            </a:pPr>
            <a:r>
              <a:rPr lang="en-US" sz="709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CÁ METRICS ĐÁNH GIÁ CỦA BÀI TOÁN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95826" y="1682674"/>
            <a:ext cx="15993778" cy="8876547"/>
          </a:xfrm>
          <a:custGeom>
            <a:avLst/>
            <a:gdLst/>
            <a:ahLst/>
            <a:cxnLst/>
            <a:rect r="r" b="b" t="t" l="l"/>
            <a:pathLst>
              <a:path h="8876547" w="15993778">
                <a:moveTo>
                  <a:pt x="0" y="0"/>
                </a:moveTo>
                <a:lnTo>
                  <a:pt x="15993778" y="0"/>
                </a:lnTo>
                <a:lnTo>
                  <a:pt x="15993778" y="8876547"/>
                </a:lnTo>
                <a:lnTo>
                  <a:pt x="0" y="887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22004" y="3269123"/>
            <a:ext cx="13741421" cy="478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6066" indent="-328033" lvl="1">
              <a:lnSpc>
                <a:spcPts val="5469"/>
              </a:lnSpc>
              <a:buFont typeface="Arial"/>
              <a:buChar char="•"/>
            </a:pPr>
            <a:r>
              <a:rPr lang="en-US" b="true" sz="3038" spc="2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RECALL: MỤC TIÊU → GIẢM THIỂU TỐI ĐA SỐ CA "BỎ LỌT" (FALSE NEGATIVE).</a:t>
            </a:r>
          </a:p>
          <a:p>
            <a:pPr algn="l" marL="656066" indent="-328033" lvl="1">
              <a:lnSpc>
                <a:spcPts val="5469"/>
              </a:lnSpc>
              <a:buFont typeface="Arial"/>
              <a:buChar char="•"/>
            </a:pPr>
            <a:r>
              <a:rPr lang="en-US" b="true" sz="3038" spc="2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PRECISION: GIỮ Ở MỨC ỔN ĐỊNH → HẠN CHẾ BÁO ĐỘNG GIẢ, TRÁNH KHÓA NHẦM THẺ (FALSE POSITIVE).</a:t>
            </a:r>
          </a:p>
          <a:p>
            <a:pPr algn="l" marL="656066" indent="-328033" lvl="1">
              <a:lnSpc>
                <a:spcPts val="5469"/>
              </a:lnSpc>
              <a:buFont typeface="Arial"/>
              <a:buChar char="•"/>
            </a:pPr>
            <a:r>
              <a:rPr lang="en-US" b="true" sz="3038" spc="2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F1-SCORE: ĐIỂM TRUNG BÌNH ĐIỀU HÒA, ĐÁNH GIÁ SỰ CÂN BẰNG GIỮA PRECISION VÀ RECALL TẠI MỘT NGƯỠNG CỤ THỂ.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05338">
            <a:off x="-5140544" y="-4644849"/>
            <a:ext cx="10955661" cy="8326302"/>
          </a:xfrm>
          <a:custGeom>
            <a:avLst/>
            <a:gdLst/>
            <a:ahLst/>
            <a:cxnLst/>
            <a:rect r="r" b="b" t="t" l="l"/>
            <a:pathLst>
              <a:path h="8326302" w="10955661">
                <a:moveTo>
                  <a:pt x="0" y="0"/>
                </a:moveTo>
                <a:lnTo>
                  <a:pt x="10955661" y="0"/>
                </a:lnTo>
                <a:lnTo>
                  <a:pt x="10955661" y="8326302"/>
                </a:lnTo>
                <a:lnTo>
                  <a:pt x="0" y="832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831617" y="482916"/>
            <a:ext cx="14300600" cy="121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880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MÔ HÌNH HOÁ VÀ THUẬT TOÁN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045870" y="2954036"/>
            <a:ext cx="10672958" cy="5665740"/>
            <a:chOff x="0" y="0"/>
            <a:chExt cx="2987070" cy="15856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7070" cy="1585686"/>
            </a:xfrm>
            <a:custGeom>
              <a:avLst/>
              <a:gdLst/>
              <a:ahLst/>
              <a:cxnLst/>
              <a:rect r="r" b="b" t="t" l="l"/>
              <a:pathLst>
                <a:path h="1585686" w="2987070">
                  <a:moveTo>
                    <a:pt x="32642" y="0"/>
                  </a:moveTo>
                  <a:lnTo>
                    <a:pt x="2954428" y="0"/>
                  </a:lnTo>
                  <a:cubicBezTo>
                    <a:pt x="2972455" y="0"/>
                    <a:pt x="2987070" y="14614"/>
                    <a:pt x="2987070" y="32642"/>
                  </a:cubicBezTo>
                  <a:lnTo>
                    <a:pt x="2987070" y="1553044"/>
                  </a:lnTo>
                  <a:cubicBezTo>
                    <a:pt x="2987070" y="1571072"/>
                    <a:pt x="2972455" y="1585686"/>
                    <a:pt x="2954428" y="1585686"/>
                  </a:cubicBezTo>
                  <a:lnTo>
                    <a:pt x="32642" y="1585686"/>
                  </a:lnTo>
                  <a:cubicBezTo>
                    <a:pt x="14614" y="1585686"/>
                    <a:pt x="0" y="1571072"/>
                    <a:pt x="0" y="1553044"/>
                  </a:cubicBezTo>
                  <a:lnTo>
                    <a:pt x="0" y="32642"/>
                  </a:lnTo>
                  <a:cubicBezTo>
                    <a:pt x="0" y="14614"/>
                    <a:pt x="14614" y="0"/>
                    <a:pt x="326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88BB">
                    <a:alpha val="395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987070" cy="1652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- KHỞI TẠO MODEL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- </a:t>
              </a: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LẬP DANH SÁCH CÁC PHƯƠNG PHÁP XỬ LÝ MẤT CÂN BẰNG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- HUẤN LUYỆN VÀ ĐÁNH GIÁ MÔ HÌNH VỚI TỪNG PHƯƠNG PHÁP XỬ LÝ DỮ LIỆU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LẶP QUA TỪNG PHƯƠNG PHÁP, VỚI MỖI PHƯƠNG PHÁP: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- LẤY DATA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- MODEL.FIT()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- DỰ ĐOÁN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- ĐÁNH GIÁ M</a:t>
              </a: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Ô </a:t>
              </a: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hình: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~ Precison - Recall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         </a:t>
              </a: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~ F1-SCORE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- Trả về results</a:t>
              </a:r>
            </a:p>
            <a:p>
              <a:pPr algn="l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0781" y="5143500"/>
            <a:ext cx="8706890" cy="3657011"/>
          </a:xfrm>
          <a:custGeom>
            <a:avLst/>
            <a:gdLst/>
            <a:ahLst/>
            <a:cxnLst/>
            <a:rect r="r" b="b" t="t" l="l"/>
            <a:pathLst>
              <a:path h="3657011" w="8706890">
                <a:moveTo>
                  <a:pt x="0" y="0"/>
                </a:moveTo>
                <a:lnTo>
                  <a:pt x="8706890" y="0"/>
                </a:lnTo>
                <a:lnTo>
                  <a:pt x="8706890" y="3657011"/>
                </a:lnTo>
                <a:lnTo>
                  <a:pt x="0" y="3657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60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13082" y="349238"/>
            <a:ext cx="11123641" cy="94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7"/>
              </a:lnSpc>
            </a:pPr>
            <a:r>
              <a:rPr lang="en-US" sz="684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MÔ HÌNH HOÁ VÀ THUẬT TOÁN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607109"/>
            <a:ext cx="10186441" cy="57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6"/>
              </a:lnSpc>
              <a:spcBef>
                <a:spcPct val="0"/>
              </a:spcBef>
            </a:pPr>
            <a:r>
              <a:rPr lang="en-US" b="true" sz="424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MÔ HÌNH BASELINE - LOGISTIC REGRESSION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076" y="2683873"/>
            <a:ext cx="18219849" cy="41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b="true" sz="304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LÝ</a:t>
            </a:r>
            <a:r>
              <a:rPr lang="en-US" b="true" sz="304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 DO CHỌN: ĐƠN GIẢN, TỐC ĐỘ HỘI TỤ NHANH, PHÙ HỢP LÀM THƯỚC ĐO GỐC CHO BÀI TOÁN PHÂN LOẠI NHỊ PHÂN.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41005" y="3601825"/>
            <a:ext cx="2084611" cy="521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2"/>
              </a:lnSpc>
              <a:spcBef>
                <a:spcPct val="0"/>
              </a:spcBef>
            </a:pPr>
            <a:r>
              <a:rPr lang="en-US" b="true" sz="3849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KẾT QUẢ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66586" y="6089112"/>
            <a:ext cx="8410978" cy="1937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</a:pPr>
            <a:r>
              <a:rPr lang="en-US" b="true" sz="2346" spc="227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56851: ĐÚNG GIAO DỊCH HỢP LỆ</a:t>
            </a:r>
          </a:p>
          <a:p>
            <a:pPr algn="l">
              <a:lnSpc>
                <a:spcPts val="3895"/>
              </a:lnSpc>
            </a:pPr>
            <a:r>
              <a:rPr lang="en-US" b="true" sz="2346" spc="227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63: GIAO DỊCH GIAN LẬN</a:t>
            </a:r>
          </a:p>
          <a:p>
            <a:pPr algn="l">
              <a:lnSpc>
                <a:spcPts val="3895"/>
              </a:lnSpc>
            </a:pPr>
            <a:r>
              <a:rPr lang="en-US" b="true" sz="2346" spc="227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35: GIAO DỊCH GIAN LẬN NHƯNG LẠI DỰ ĐOÁN LÀ HỢP LỆ </a:t>
            </a:r>
          </a:p>
          <a:p>
            <a:pPr algn="l">
              <a:lnSpc>
                <a:spcPts val="3895"/>
              </a:lnSpc>
            </a:pPr>
            <a:r>
              <a:rPr lang="en-US" b="true" sz="2346" spc="227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13: GIAO DỊCH HỢP LỆ NHƯNG NGHI NGỜ GIAN LẬN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88541" y="290287"/>
            <a:ext cx="11123641" cy="946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87"/>
              </a:lnSpc>
            </a:pPr>
            <a:r>
              <a:rPr lang="en-US" sz="684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MÔ HÌNH HOÁ VÀ THUẬT TOÁN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607109"/>
            <a:ext cx="10790694" cy="57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6"/>
              </a:lnSpc>
              <a:spcBef>
                <a:spcPct val="0"/>
              </a:spcBef>
            </a:pPr>
            <a:r>
              <a:rPr lang="en-US" b="true" sz="424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MÔ HÌNH NÂNG CAO - RANDOM FOREST VÀ MLP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2440464" y="1079414"/>
            <a:ext cx="4715017" cy="7538544"/>
          </a:xfrm>
          <a:custGeom>
            <a:avLst/>
            <a:gdLst/>
            <a:ahLst/>
            <a:cxnLst/>
            <a:rect r="r" b="b" t="t" l="l"/>
            <a:pathLst>
              <a:path h="7538544" w="4715017">
                <a:moveTo>
                  <a:pt x="0" y="0"/>
                </a:moveTo>
                <a:lnTo>
                  <a:pt x="4715017" y="0"/>
                </a:lnTo>
                <a:lnTo>
                  <a:pt x="4715017" y="7538544"/>
                </a:lnTo>
                <a:lnTo>
                  <a:pt x="0" y="7538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0568541" y="2899177"/>
            <a:ext cx="5355734" cy="8562946"/>
          </a:xfrm>
          <a:custGeom>
            <a:avLst/>
            <a:gdLst/>
            <a:ahLst/>
            <a:cxnLst/>
            <a:rect r="r" b="b" t="t" l="l"/>
            <a:pathLst>
              <a:path h="8562946" w="5355734">
                <a:moveTo>
                  <a:pt x="0" y="0"/>
                </a:moveTo>
                <a:lnTo>
                  <a:pt x="5355733" y="0"/>
                </a:lnTo>
                <a:lnTo>
                  <a:pt x="5355733" y="8562946"/>
                </a:lnTo>
                <a:lnTo>
                  <a:pt x="0" y="8562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44772" y="3218749"/>
            <a:ext cx="4506400" cy="71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3"/>
              </a:lnSpc>
              <a:spcBef>
                <a:spcPct val="0"/>
              </a:spcBef>
            </a:pPr>
            <a:r>
              <a:rPr lang="en-US" b="true" sz="516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RANDOM FOREST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10439" y="5210175"/>
            <a:ext cx="7471937" cy="714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3"/>
              </a:lnSpc>
              <a:spcBef>
                <a:spcPct val="0"/>
              </a:spcBef>
            </a:pPr>
            <a:r>
              <a:rPr lang="en-US" b="true" sz="5164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MULTI-LAYER PERECEPTRON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8035" y="4133240"/>
            <a:ext cx="6439875" cy="2633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898" indent="-285949" lvl="1">
              <a:lnSpc>
                <a:spcPts val="4264"/>
              </a:lnSpc>
              <a:buFont typeface="Arial"/>
              <a:buChar char="•"/>
            </a:pPr>
            <a:r>
              <a:rPr lang="en-US" b="true" sz="2648" spc="1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SỨC MẠNH: KHÁNG NH</a:t>
            </a:r>
            <a:r>
              <a:rPr lang="en-US" b="true" sz="2648" spc="1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IỄU CỰC TỐT, LINH HOẠT VỚI DỮ LIỆU ĐA CHIỀU.</a:t>
            </a:r>
          </a:p>
          <a:p>
            <a:pPr algn="l" marL="571898" indent="-285949" lvl="1">
              <a:lnSpc>
                <a:spcPts val="4264"/>
              </a:lnSpc>
              <a:buFont typeface="Arial"/>
              <a:buChar char="•"/>
            </a:pPr>
            <a:r>
              <a:rPr lang="en-US" b="true" sz="2648" spc="132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KẾT HỢP HOÀN HẢO VỚI TẬP DỮ LIỆU ĐÃ CÂN BẰNG (SMOTE).</a:t>
            </a:r>
          </a:p>
          <a:p>
            <a:pPr algn="l">
              <a:lnSpc>
                <a:spcPts val="426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04942" y="6363812"/>
            <a:ext cx="6439875" cy="316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1898" indent="-285949" lvl="1">
              <a:lnSpc>
                <a:spcPts val="4264"/>
              </a:lnSpc>
              <a:buFont typeface="Arial"/>
              <a:buChar char="•"/>
            </a:pPr>
            <a:r>
              <a:rPr lang="en-US" b="true" sz="2648" spc="32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SỨC MẠNH: HỌC CÁC BIỂU DIỄN PH</a:t>
            </a:r>
            <a:r>
              <a:rPr lang="en-US" b="true" sz="2648" spc="32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 TUYẾN TÍNH CỰC KỲ PHỨC TẠP.</a:t>
            </a:r>
          </a:p>
          <a:p>
            <a:pPr algn="l" marL="571898" indent="-285949" lvl="1">
              <a:lnSpc>
                <a:spcPts val="4264"/>
              </a:lnSpc>
              <a:buFont typeface="Arial"/>
              <a:buChar char="•"/>
            </a:pPr>
            <a:r>
              <a:rPr lang="en-US" b="true" sz="2648" spc="328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NHẠY CẢM VỚI NHIỄU → HOẠT ĐỘNG TỐT NHẤT TRÊN DỮ LIỆU GỐC (ORIGINAL).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20842" y="942689"/>
            <a:ext cx="9422768" cy="74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</a:pPr>
            <a:r>
              <a:rPr lang="en-US" sz="5427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QUÁ TRÌNH PHÁT TRIỀN MÔ HÌNH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7601" y="2111343"/>
            <a:ext cx="3713948" cy="5123353"/>
            <a:chOff x="0" y="0"/>
            <a:chExt cx="1021158" cy="1408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1158" cy="1408676"/>
            </a:xfrm>
            <a:custGeom>
              <a:avLst/>
              <a:gdLst/>
              <a:ahLst/>
              <a:cxnLst/>
              <a:rect r="r" b="b" t="t" l="l"/>
              <a:pathLst>
                <a:path h="1408676" w="1021158">
                  <a:moveTo>
                    <a:pt x="106312" y="0"/>
                  </a:moveTo>
                  <a:lnTo>
                    <a:pt x="914845" y="0"/>
                  </a:lnTo>
                  <a:cubicBezTo>
                    <a:pt x="973560" y="0"/>
                    <a:pt x="1021158" y="47598"/>
                    <a:pt x="1021158" y="106312"/>
                  </a:cubicBezTo>
                  <a:lnTo>
                    <a:pt x="1021158" y="1302364"/>
                  </a:lnTo>
                  <a:cubicBezTo>
                    <a:pt x="1021158" y="1330560"/>
                    <a:pt x="1009957" y="1357601"/>
                    <a:pt x="990019" y="1377538"/>
                  </a:cubicBezTo>
                  <a:cubicBezTo>
                    <a:pt x="970082" y="1397476"/>
                    <a:pt x="943041" y="1408676"/>
                    <a:pt x="914845" y="1408676"/>
                  </a:cubicBezTo>
                  <a:lnTo>
                    <a:pt x="106312" y="1408676"/>
                  </a:lnTo>
                  <a:cubicBezTo>
                    <a:pt x="47598" y="1408676"/>
                    <a:pt x="0" y="1361079"/>
                    <a:pt x="0" y="1302364"/>
                  </a:cubicBezTo>
                  <a:lnTo>
                    <a:pt x="0" y="106312"/>
                  </a:lnTo>
                  <a:cubicBezTo>
                    <a:pt x="0" y="78116"/>
                    <a:pt x="11201" y="51076"/>
                    <a:pt x="31138" y="31138"/>
                  </a:cubicBezTo>
                  <a:cubicBezTo>
                    <a:pt x="51076" y="11201"/>
                    <a:pt x="78116" y="0"/>
                    <a:pt x="106312" y="0"/>
                  </a:cubicBezTo>
                  <a:close/>
                </a:path>
              </a:pathLst>
            </a:custGeom>
            <a:ln w="47625" cap="rnd">
              <a:solidFill>
                <a:srgbClr val="D48E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021158" cy="146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023705" y="2111343"/>
            <a:ext cx="3713948" cy="5123353"/>
            <a:chOff x="0" y="0"/>
            <a:chExt cx="1021158" cy="14086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1158" cy="1408676"/>
            </a:xfrm>
            <a:custGeom>
              <a:avLst/>
              <a:gdLst/>
              <a:ahLst/>
              <a:cxnLst/>
              <a:rect r="r" b="b" t="t" l="l"/>
              <a:pathLst>
                <a:path h="1408676" w="1021158">
                  <a:moveTo>
                    <a:pt x="106312" y="0"/>
                  </a:moveTo>
                  <a:lnTo>
                    <a:pt x="914845" y="0"/>
                  </a:lnTo>
                  <a:cubicBezTo>
                    <a:pt x="973560" y="0"/>
                    <a:pt x="1021158" y="47598"/>
                    <a:pt x="1021158" y="106312"/>
                  </a:cubicBezTo>
                  <a:lnTo>
                    <a:pt x="1021158" y="1302364"/>
                  </a:lnTo>
                  <a:cubicBezTo>
                    <a:pt x="1021158" y="1330560"/>
                    <a:pt x="1009957" y="1357601"/>
                    <a:pt x="990019" y="1377538"/>
                  </a:cubicBezTo>
                  <a:cubicBezTo>
                    <a:pt x="970082" y="1397476"/>
                    <a:pt x="943041" y="1408676"/>
                    <a:pt x="914845" y="1408676"/>
                  </a:cubicBezTo>
                  <a:lnTo>
                    <a:pt x="106312" y="1408676"/>
                  </a:lnTo>
                  <a:cubicBezTo>
                    <a:pt x="47598" y="1408676"/>
                    <a:pt x="0" y="1361079"/>
                    <a:pt x="0" y="1302364"/>
                  </a:cubicBezTo>
                  <a:lnTo>
                    <a:pt x="0" y="106312"/>
                  </a:lnTo>
                  <a:cubicBezTo>
                    <a:pt x="0" y="78116"/>
                    <a:pt x="11201" y="51076"/>
                    <a:pt x="31138" y="31138"/>
                  </a:cubicBezTo>
                  <a:cubicBezTo>
                    <a:pt x="51076" y="11201"/>
                    <a:pt x="78116" y="0"/>
                    <a:pt x="106312" y="0"/>
                  </a:cubicBezTo>
                  <a:close/>
                </a:path>
              </a:pathLst>
            </a:custGeom>
            <a:ln w="47625" cap="rnd">
              <a:solidFill>
                <a:srgbClr val="D48E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21158" cy="146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61553" y="2111343"/>
            <a:ext cx="3713948" cy="5123353"/>
            <a:chOff x="0" y="0"/>
            <a:chExt cx="1021158" cy="14086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1158" cy="1408676"/>
            </a:xfrm>
            <a:custGeom>
              <a:avLst/>
              <a:gdLst/>
              <a:ahLst/>
              <a:cxnLst/>
              <a:rect r="r" b="b" t="t" l="l"/>
              <a:pathLst>
                <a:path h="1408676" w="1021158">
                  <a:moveTo>
                    <a:pt x="106312" y="0"/>
                  </a:moveTo>
                  <a:lnTo>
                    <a:pt x="914845" y="0"/>
                  </a:lnTo>
                  <a:cubicBezTo>
                    <a:pt x="973560" y="0"/>
                    <a:pt x="1021158" y="47598"/>
                    <a:pt x="1021158" y="106312"/>
                  </a:cubicBezTo>
                  <a:lnTo>
                    <a:pt x="1021158" y="1302364"/>
                  </a:lnTo>
                  <a:cubicBezTo>
                    <a:pt x="1021158" y="1330560"/>
                    <a:pt x="1009957" y="1357601"/>
                    <a:pt x="990019" y="1377538"/>
                  </a:cubicBezTo>
                  <a:cubicBezTo>
                    <a:pt x="970082" y="1397476"/>
                    <a:pt x="943041" y="1408676"/>
                    <a:pt x="914845" y="1408676"/>
                  </a:cubicBezTo>
                  <a:lnTo>
                    <a:pt x="106312" y="1408676"/>
                  </a:lnTo>
                  <a:cubicBezTo>
                    <a:pt x="47598" y="1408676"/>
                    <a:pt x="0" y="1361079"/>
                    <a:pt x="0" y="1302364"/>
                  </a:cubicBezTo>
                  <a:lnTo>
                    <a:pt x="0" y="106312"/>
                  </a:lnTo>
                  <a:cubicBezTo>
                    <a:pt x="0" y="78116"/>
                    <a:pt x="11201" y="51076"/>
                    <a:pt x="31138" y="31138"/>
                  </a:cubicBezTo>
                  <a:cubicBezTo>
                    <a:pt x="51076" y="11201"/>
                    <a:pt x="78116" y="0"/>
                    <a:pt x="106312" y="0"/>
                  </a:cubicBezTo>
                  <a:close/>
                </a:path>
              </a:pathLst>
            </a:custGeom>
            <a:ln w="47625" cap="rnd">
              <a:solidFill>
                <a:srgbClr val="D48E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21158" cy="146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99401" y="2111343"/>
            <a:ext cx="3713948" cy="5123353"/>
            <a:chOff x="0" y="0"/>
            <a:chExt cx="1021158" cy="14086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1158" cy="1408676"/>
            </a:xfrm>
            <a:custGeom>
              <a:avLst/>
              <a:gdLst/>
              <a:ahLst/>
              <a:cxnLst/>
              <a:rect r="r" b="b" t="t" l="l"/>
              <a:pathLst>
                <a:path h="1408676" w="1021158">
                  <a:moveTo>
                    <a:pt x="106312" y="0"/>
                  </a:moveTo>
                  <a:lnTo>
                    <a:pt x="914845" y="0"/>
                  </a:lnTo>
                  <a:cubicBezTo>
                    <a:pt x="973560" y="0"/>
                    <a:pt x="1021158" y="47598"/>
                    <a:pt x="1021158" y="106312"/>
                  </a:cubicBezTo>
                  <a:lnTo>
                    <a:pt x="1021158" y="1302364"/>
                  </a:lnTo>
                  <a:cubicBezTo>
                    <a:pt x="1021158" y="1330560"/>
                    <a:pt x="1009957" y="1357601"/>
                    <a:pt x="990019" y="1377538"/>
                  </a:cubicBezTo>
                  <a:cubicBezTo>
                    <a:pt x="970082" y="1397476"/>
                    <a:pt x="943041" y="1408676"/>
                    <a:pt x="914845" y="1408676"/>
                  </a:cubicBezTo>
                  <a:lnTo>
                    <a:pt x="106312" y="1408676"/>
                  </a:lnTo>
                  <a:cubicBezTo>
                    <a:pt x="47598" y="1408676"/>
                    <a:pt x="0" y="1361079"/>
                    <a:pt x="0" y="1302364"/>
                  </a:cubicBezTo>
                  <a:lnTo>
                    <a:pt x="0" y="106312"/>
                  </a:lnTo>
                  <a:cubicBezTo>
                    <a:pt x="0" y="78116"/>
                    <a:pt x="11201" y="51076"/>
                    <a:pt x="31138" y="31138"/>
                  </a:cubicBezTo>
                  <a:cubicBezTo>
                    <a:pt x="51076" y="11201"/>
                    <a:pt x="78116" y="0"/>
                    <a:pt x="106312" y="0"/>
                  </a:cubicBezTo>
                  <a:close/>
                </a:path>
              </a:pathLst>
            </a:custGeom>
            <a:ln w="47625" cap="rnd">
              <a:solidFill>
                <a:srgbClr val="D48E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021158" cy="146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7689" y="2393590"/>
            <a:ext cx="3553770" cy="85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b="true" sz="24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KHỞI ĐIỂM</a:t>
            </a: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b="true" sz="24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(BASELINE MODEL)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3794" y="2393590"/>
            <a:ext cx="3553770" cy="63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b="true" sz="24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XỬ LÝ DỮ LIỆU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4342" y="3720038"/>
            <a:ext cx="3180466" cy="25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966" indent="-195483" lvl="1">
              <a:lnSpc>
                <a:spcPts val="253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THUẬT TOÁN: LOG</a:t>
            </a: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ISTIC REGRESSION (DỮ LIỆU GỐC).</a:t>
            </a:r>
          </a:p>
          <a:p>
            <a:pPr algn="l" marL="390966" indent="-195483" lvl="1">
              <a:lnSpc>
                <a:spcPts val="253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VẤN ĐỀ: LỌT LƯỚI 35 VỤ GIAN LẬN (RECALL THẤP) DO MẤT CÂN BẰNG DỮ LIỆU 99:1.</a:t>
            </a:r>
          </a:p>
          <a:p>
            <a:pPr algn="l">
              <a:lnSpc>
                <a:spcPts val="2535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290446" y="3700988"/>
            <a:ext cx="3180466" cy="315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966" indent="-195483" lvl="1">
              <a:lnSpc>
                <a:spcPts val="2788"/>
              </a:lnSpc>
              <a:buFont typeface="Arial"/>
              <a:buChar char="•"/>
            </a:pP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KỸ THUẬT: THỬ NGH</a:t>
            </a: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IỆM UNDER-SAMPLING, SMOTE VÀ COMBINED (PIPELINE).</a:t>
            </a:r>
          </a:p>
          <a:p>
            <a:pPr algn="l" marL="390966" indent="-195483" lvl="1">
              <a:lnSpc>
                <a:spcPts val="2788"/>
              </a:lnSpc>
              <a:buFont typeface="Arial"/>
              <a:buChar char="•"/>
            </a:pP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MỤC</a:t>
            </a: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TIÊU: TĂNG CƯỜNG DỮ LIỆU ĐỂ HẠN CHẾ SỰ MẤT CÂN BẰNG DỮ LIỆU</a:t>
            </a:r>
          </a:p>
          <a:p>
            <a:pPr algn="l">
              <a:lnSpc>
                <a:spcPts val="2788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797043" y="4126329"/>
            <a:ext cx="3180466" cy="1388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 SÁNH: RANDO</a:t>
            </a: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 FOREST VS. MẠNG NƠ-RON (MLP) VÀ BASELINE</a:t>
            </a:r>
          </a:p>
          <a:p>
            <a:pPr algn="l">
              <a:lnSpc>
                <a:spcPts val="2788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166101" y="4093325"/>
            <a:ext cx="3534298" cy="174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1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MÔ HÌNH TỐT NHẤT: RANDOM FOREST + SMOTE</a:t>
            </a:r>
          </a:p>
          <a:p>
            <a:pPr algn="l">
              <a:lnSpc>
                <a:spcPts val="2788"/>
              </a:lnSpc>
            </a:pPr>
          </a:p>
          <a:p>
            <a:pPr algn="l">
              <a:lnSpc>
                <a:spcPts val="2788"/>
              </a:lnSpc>
            </a:pPr>
            <a:r>
              <a:rPr lang="en-US" b="true" sz="181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=&gt; TINH CHỈNH VÀ TỐI ƯU BẰNG OPTUNA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59545" y="2280675"/>
            <a:ext cx="3317964" cy="107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b="true" sz="24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Thử nghiệm thuật toán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19933" y="2280675"/>
            <a:ext cx="2625283" cy="107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</a:p>
          <a:p>
            <a:pPr algn="ctr">
              <a:lnSpc>
                <a:spcPts val="3474"/>
              </a:lnSpc>
              <a:spcBef>
                <a:spcPct val="0"/>
              </a:spcBef>
            </a:pPr>
            <a:r>
              <a:rPr lang="en-US" b="true" sz="248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Lựa chọn mô hình 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36190" y="7433773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152867" y="7433773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>
            <a:off x="1917851" y="9461337"/>
            <a:ext cx="5110207" cy="0"/>
          </a:xfrm>
          <a:prstGeom prst="line">
            <a:avLst/>
          </a:prstGeom>
          <a:ln cap="flat" w="952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26" id="26"/>
          <p:cNvSpPr/>
          <p:nvPr/>
        </p:nvSpPr>
        <p:spPr>
          <a:xfrm flipV="true">
            <a:off x="264690" y="9461337"/>
            <a:ext cx="2039202" cy="0"/>
          </a:xfrm>
          <a:prstGeom prst="line">
            <a:avLst/>
          </a:prstGeom>
          <a:ln cap="rnd" w="95250">
            <a:solidFill>
              <a:srgbClr val="D9D9D9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7" id="27"/>
          <p:cNvSpPr/>
          <p:nvPr/>
        </p:nvSpPr>
        <p:spPr>
          <a:xfrm>
            <a:off x="11318527" y="9413712"/>
            <a:ext cx="4437848" cy="47625"/>
          </a:xfrm>
          <a:prstGeom prst="line">
            <a:avLst/>
          </a:prstGeom>
          <a:ln cap="rnd" w="95250">
            <a:solidFill>
              <a:srgbClr val="D9D9D9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15634098" y="9428322"/>
            <a:ext cx="2064780" cy="66030"/>
          </a:xfrm>
          <a:prstGeom prst="line">
            <a:avLst/>
          </a:prstGeom>
          <a:ln cap="rnd" w="95250">
            <a:solidFill>
              <a:srgbClr val="D9D9D9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0767570" y="7433773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104763" y="7596392"/>
            <a:ext cx="1455624" cy="1455624"/>
          </a:xfrm>
          <a:custGeom>
            <a:avLst/>
            <a:gdLst/>
            <a:ahLst/>
            <a:cxnLst/>
            <a:rect r="r" b="b" t="t" l="l"/>
            <a:pathLst>
              <a:path h="1455624" w="1455624">
                <a:moveTo>
                  <a:pt x="0" y="0"/>
                </a:moveTo>
                <a:lnTo>
                  <a:pt x="1455624" y="0"/>
                </a:lnTo>
                <a:lnTo>
                  <a:pt x="1455624" y="1455624"/>
                </a:lnTo>
                <a:lnTo>
                  <a:pt x="0" y="14556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6584805" y="9461337"/>
            <a:ext cx="5072694" cy="0"/>
          </a:xfrm>
          <a:prstGeom prst="line">
            <a:avLst/>
          </a:prstGeom>
          <a:ln cap="flat" w="95250">
            <a:solidFill>
              <a:srgbClr val="D9D9D9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60901" y="7034329"/>
            <a:ext cx="10364206" cy="2886480"/>
          </a:xfrm>
          <a:custGeom>
            <a:avLst/>
            <a:gdLst/>
            <a:ahLst/>
            <a:cxnLst/>
            <a:rect r="r" b="b" t="t" l="l"/>
            <a:pathLst>
              <a:path h="2886480" w="10364206">
                <a:moveTo>
                  <a:pt x="0" y="0"/>
                </a:moveTo>
                <a:lnTo>
                  <a:pt x="10364206" y="0"/>
                </a:lnTo>
                <a:lnTo>
                  <a:pt x="10364206" y="2886479"/>
                </a:lnTo>
                <a:lnTo>
                  <a:pt x="0" y="2886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2375" y="1028700"/>
            <a:ext cx="11301259" cy="5636503"/>
          </a:xfrm>
          <a:custGeom>
            <a:avLst/>
            <a:gdLst/>
            <a:ahLst/>
            <a:cxnLst/>
            <a:rect r="r" b="b" t="t" l="l"/>
            <a:pathLst>
              <a:path h="5636503" w="11301259">
                <a:moveTo>
                  <a:pt x="0" y="0"/>
                </a:moveTo>
                <a:lnTo>
                  <a:pt x="11301259" y="0"/>
                </a:lnTo>
                <a:lnTo>
                  <a:pt x="11301259" y="5636503"/>
                </a:lnTo>
                <a:lnTo>
                  <a:pt x="0" y="5636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87506" y="76200"/>
            <a:ext cx="6710996" cy="74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</a:pPr>
            <a:r>
              <a:rPr lang="en-US" sz="5427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KẾT QUẢ THỰC NGHIỆM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9793" y="1856245"/>
            <a:ext cx="16569507" cy="8015499"/>
          </a:xfrm>
          <a:custGeom>
            <a:avLst/>
            <a:gdLst/>
            <a:ahLst/>
            <a:cxnLst/>
            <a:rect r="r" b="b" t="t" l="l"/>
            <a:pathLst>
              <a:path h="8015499" w="16569507">
                <a:moveTo>
                  <a:pt x="0" y="0"/>
                </a:moveTo>
                <a:lnTo>
                  <a:pt x="16569507" y="0"/>
                </a:lnTo>
                <a:lnTo>
                  <a:pt x="16569507" y="8015499"/>
                </a:lnTo>
                <a:lnTo>
                  <a:pt x="0" y="8015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86992" y="456339"/>
            <a:ext cx="6150158" cy="749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8"/>
              </a:lnSpc>
            </a:pPr>
            <a:r>
              <a:rPr lang="en-US" sz="5427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TRIỂN KHAI VÀ DEMO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31D39">
                <a:alpha val="100000"/>
              </a:srgbClr>
            </a:gs>
            <a:gs pos="100000">
              <a:srgbClr val="0048A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59383" y="1856541"/>
            <a:ext cx="11369234" cy="6309925"/>
          </a:xfrm>
          <a:custGeom>
            <a:avLst/>
            <a:gdLst/>
            <a:ahLst/>
            <a:cxnLst/>
            <a:rect r="r" b="b" t="t" l="l"/>
            <a:pathLst>
              <a:path h="6309925" w="11369234">
                <a:moveTo>
                  <a:pt x="0" y="0"/>
                </a:moveTo>
                <a:lnTo>
                  <a:pt x="11369234" y="0"/>
                </a:lnTo>
                <a:lnTo>
                  <a:pt x="11369234" y="6309925"/>
                </a:lnTo>
                <a:lnTo>
                  <a:pt x="0" y="6309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2427" y="3308083"/>
            <a:ext cx="4223147" cy="170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29"/>
              </a:lnSpc>
              <a:spcBef>
                <a:spcPct val="0"/>
              </a:spcBef>
            </a:pPr>
            <a:r>
              <a:rPr lang="en-US" b="true" sz="13826" strike="noStrike" u="none">
                <a:solidFill>
                  <a:srgbClr val="00B3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43140" y="5224694"/>
            <a:ext cx="7801719" cy="170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29"/>
              </a:lnSpc>
              <a:spcBef>
                <a:spcPct val="0"/>
              </a:spcBef>
            </a:pPr>
            <a:r>
              <a:rPr lang="en-US" b="true" sz="13826" strike="noStrike" u="none">
                <a:solidFill>
                  <a:srgbClr val="00B3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FOR WATCHING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32427" y="7392372"/>
            <a:ext cx="4169801" cy="66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End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3238262" y="1318465"/>
            <a:ext cx="6685616" cy="4897602"/>
          </a:xfrm>
          <a:custGeom>
            <a:avLst/>
            <a:gdLst/>
            <a:ahLst/>
            <a:cxnLst/>
            <a:rect r="r" b="b" t="t" l="l"/>
            <a:pathLst>
              <a:path h="4897602" w="6685616">
                <a:moveTo>
                  <a:pt x="6685615" y="0"/>
                </a:moveTo>
                <a:lnTo>
                  <a:pt x="0" y="0"/>
                </a:lnTo>
                <a:lnTo>
                  <a:pt x="0" y="4897602"/>
                </a:lnTo>
                <a:lnTo>
                  <a:pt x="6685615" y="4897602"/>
                </a:lnTo>
                <a:lnTo>
                  <a:pt x="6685615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34967" y="1146507"/>
            <a:ext cx="6685616" cy="4897602"/>
          </a:xfrm>
          <a:custGeom>
            <a:avLst/>
            <a:gdLst/>
            <a:ahLst/>
            <a:cxnLst/>
            <a:rect r="r" b="b" t="t" l="l"/>
            <a:pathLst>
              <a:path h="4897602" w="6685616">
                <a:moveTo>
                  <a:pt x="0" y="0"/>
                </a:moveTo>
                <a:lnTo>
                  <a:pt x="6685615" y="0"/>
                </a:lnTo>
                <a:lnTo>
                  <a:pt x="6685615" y="4897602"/>
                </a:lnTo>
                <a:lnTo>
                  <a:pt x="0" y="4897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DAHEPNxNFek</dc:identifier>
  <dcterms:modified xsi:type="dcterms:W3CDTF">2011-08-01T06:04:30Z</dcterms:modified>
  <cp:revision>1</cp:revision>
  <dc:title>Dự đoán gian lận thẻ tín dụng</dc:title>
</cp:coreProperties>
</file>